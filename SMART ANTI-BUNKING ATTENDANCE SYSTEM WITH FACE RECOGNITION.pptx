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heque Bold" panose="020B0604020202020204" charset="0"/>
      <p:regular r:id="rId20"/>
    </p:embeddedFont>
    <p:embeddedFont>
      <p:font typeface="Times New Roman Bold" panose="02020803070505020304" pitchFamily="18" charset="0"/>
      <p:regular r:id="rId21"/>
      <p:bold r:id="rId22"/>
    </p:embeddedFont>
    <p:embeddedFont>
      <p:font typeface="Times New Roman Bold Italics" panose="020B0604020202020204" charset="0"/>
      <p:regular r:id="rId23"/>
    </p:embeddedFont>
    <p:embeddedFont>
      <p:font typeface="Times New Roman MT" panose="020B0604020202020204" charset="0"/>
      <p:regular r:id="rId24"/>
    </p:embeddedFont>
    <p:embeddedFont>
      <p:font typeface="Times New Roman MT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2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5.sv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svg"/><Relationship Id="rId7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3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-3208355" y="4156695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73789">
            <a:off x="11612956" y="-3070680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7"/>
                </a:lnTo>
                <a:lnTo>
                  <a:pt x="0" y="8393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9064" y="1211603"/>
            <a:ext cx="17469872" cy="4066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sz="9672">
                <a:solidFill>
                  <a:srgbClr val="FFFFFF"/>
                </a:solidFill>
                <a:latin typeface="Cheque Bold"/>
                <a:ea typeface="Cheque Bold"/>
                <a:cs typeface="Cheque Bold"/>
                <a:sym typeface="Cheque Bold"/>
              </a:rPr>
              <a:t>SMART ANTI-BUNKING ATTENDANCE SYSTEM USING FACE RECOGNITION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3233" y="5771908"/>
            <a:ext cx="14161533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8"/>
              </a:lnSpc>
            </a:pPr>
            <a:r>
              <a:rPr lang="en-US" sz="296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Modernizing Academic Administration through Biometrics and Automated Communication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32461" y="6968607"/>
            <a:ext cx="4623078" cy="1964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239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BY</a:t>
            </a:r>
          </a:p>
          <a:p>
            <a:pPr algn="ctr">
              <a:lnSpc>
                <a:spcPts val="3839"/>
              </a:lnSpc>
            </a:pPr>
            <a:r>
              <a:rPr lang="en-US" sz="2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AISHWARYA. R</a:t>
            </a:r>
          </a:p>
          <a:p>
            <a:pPr algn="ctr">
              <a:lnSpc>
                <a:spcPts val="3839"/>
              </a:lnSpc>
            </a:pPr>
            <a:r>
              <a:rPr lang="en-US" sz="2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II - M.SC.COMPUTER SCIENCE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2413322078002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27861">
            <a:off x="12276156" y="482350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8"/>
                </a:lnTo>
                <a:lnTo>
                  <a:pt x="0" y="88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1259410"/>
            <a:ext cx="7768180" cy="7768180"/>
          </a:xfrm>
          <a:custGeom>
            <a:avLst/>
            <a:gdLst/>
            <a:ahLst/>
            <a:cxnLst/>
            <a:rect l="l" t="t" r="r" b="b"/>
            <a:pathLst>
              <a:path w="7768180" h="7768180">
                <a:moveTo>
                  <a:pt x="0" y="0"/>
                </a:moveTo>
                <a:lnTo>
                  <a:pt x="7768180" y="0"/>
                </a:lnTo>
                <a:lnTo>
                  <a:pt x="7768180" y="7768180"/>
                </a:lnTo>
                <a:lnTo>
                  <a:pt x="0" y="7768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805935" y="2502529"/>
            <a:ext cx="487528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05935" y="3494513"/>
            <a:ext cx="8324290" cy="5250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MODERNIZING ADMINISTRATION: </a:t>
            </a: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TRANSITIONING FROM MANUAL ROLL CALLS TO A HIGH-ACCURACY BIOMETRIC ECOSYSTEM.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VERIFICATION:</a:t>
            </a: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UTILIZING DEEP LEARNING ARCHITECTURES TO MAP FACIAL FEATURES AGAINST A MYSQL DATABASE.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CLOSING COMMUNICATION GAPS:</a:t>
            </a: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INTEGRATING WHATSAPP NOTIFICATIONS FOR IMMEDIATE ABSENTEE ALERTS TO GUARDIANS.</a:t>
            </a:r>
          </a:p>
          <a:p>
            <a:pPr marL="474979" lvl="1" indent="-237490" algn="just">
              <a:lnSpc>
                <a:spcPts val="3519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FOSTERING DISCIPLINE:</a:t>
            </a:r>
            <a:r>
              <a:rPr lang="en-US" sz="21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KEEPING PARENTS ACTIVELY ENGAGED IN THEIR WARD’S DAILY EDUCATIONAL JOURNEY.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740766"/>
            <a:ext cx="16230600" cy="6517534"/>
            <a:chOff x="0" y="0"/>
            <a:chExt cx="4274726" cy="1716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716552"/>
            </a:xfrm>
            <a:custGeom>
              <a:avLst/>
              <a:gdLst/>
              <a:ahLst/>
              <a:cxnLst/>
              <a:rect l="l" t="t" r="r" b="b"/>
              <a:pathLst>
                <a:path w="4274726" h="1716552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692225"/>
                  </a:lnTo>
                  <a:cubicBezTo>
                    <a:pt x="4274726" y="1698677"/>
                    <a:pt x="4272163" y="1704865"/>
                    <a:pt x="4267601" y="1709427"/>
                  </a:cubicBezTo>
                  <a:cubicBezTo>
                    <a:pt x="4263039" y="1713989"/>
                    <a:pt x="4256851" y="1716552"/>
                    <a:pt x="4250399" y="1716552"/>
                  </a:cubicBezTo>
                  <a:lnTo>
                    <a:pt x="24327" y="1716552"/>
                  </a:lnTo>
                  <a:cubicBezTo>
                    <a:pt x="10891" y="1716552"/>
                    <a:pt x="0" y="1705661"/>
                    <a:pt x="0" y="169222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85725"/>
              <a:ext cx="4274726" cy="1802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29040" y="3568707"/>
            <a:ext cx="850579" cy="565635"/>
          </a:xfrm>
          <a:custGeom>
            <a:avLst/>
            <a:gdLst/>
            <a:ahLst/>
            <a:cxnLst/>
            <a:rect l="l" t="t" r="r" b="b"/>
            <a:pathLst>
              <a:path w="850579" h="565635">
                <a:moveTo>
                  <a:pt x="0" y="0"/>
                </a:moveTo>
                <a:lnTo>
                  <a:pt x="850579" y="0"/>
                </a:lnTo>
                <a:lnTo>
                  <a:pt x="850579" y="565635"/>
                </a:lnTo>
                <a:lnTo>
                  <a:pt x="0" y="565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28017" y="3410305"/>
            <a:ext cx="882437" cy="882437"/>
          </a:xfrm>
          <a:custGeom>
            <a:avLst/>
            <a:gdLst/>
            <a:ahLst/>
            <a:cxnLst/>
            <a:rect l="l" t="t" r="r" b="b"/>
            <a:pathLst>
              <a:path w="882437" h="882437">
                <a:moveTo>
                  <a:pt x="0" y="0"/>
                </a:moveTo>
                <a:lnTo>
                  <a:pt x="882438" y="0"/>
                </a:lnTo>
                <a:lnTo>
                  <a:pt x="882438" y="882438"/>
                </a:lnTo>
                <a:lnTo>
                  <a:pt x="0" y="8824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45090" y="1701564"/>
            <a:ext cx="8114734" cy="158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Specifications</a:t>
            </a:r>
          </a:p>
          <a:p>
            <a:pPr algn="ctr">
              <a:lnSpc>
                <a:spcPts val="6049"/>
              </a:lnSpc>
            </a:pPr>
            <a:endParaRPr lang="en-US" sz="54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069236" y="4397518"/>
            <a:ext cx="409768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299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SPECS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54330" y="4387993"/>
            <a:ext cx="3577209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SPECS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69236" y="5368675"/>
            <a:ext cx="5779364" cy="3071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7281" lvl="1" indent="-273640" algn="l">
              <a:lnSpc>
                <a:spcPts val="4055"/>
              </a:lnSpc>
              <a:buFont typeface="Arial"/>
              <a:buChar char="•"/>
            </a:pPr>
            <a:r>
              <a:rPr lang="en-US" sz="253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PROCESSOR: 13TH GEN INTEL CORE I5-1335U</a:t>
            </a:r>
          </a:p>
          <a:p>
            <a:pPr marL="547281" lvl="1" indent="-273640" algn="l">
              <a:lnSpc>
                <a:spcPts val="4055"/>
              </a:lnSpc>
              <a:buFont typeface="Arial"/>
              <a:buChar char="•"/>
            </a:pPr>
            <a:r>
              <a:rPr lang="en-US" sz="253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RAM : 16.0 GB DEDICATED</a:t>
            </a:r>
          </a:p>
          <a:p>
            <a:pPr marL="547281" lvl="1" indent="-273640" algn="l">
              <a:lnSpc>
                <a:spcPts val="4055"/>
              </a:lnSpc>
              <a:buFont typeface="Arial"/>
              <a:buChar char="•"/>
            </a:pPr>
            <a:r>
              <a:rPr lang="en-US" sz="253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CAMERA : 720P/1080P STANDARD WEBCAM</a:t>
            </a:r>
          </a:p>
          <a:p>
            <a:pPr marL="547281" lvl="1" indent="-273640" algn="l">
              <a:lnSpc>
                <a:spcPts val="4055"/>
              </a:lnSpc>
              <a:buFont typeface="Arial"/>
              <a:buChar char="•"/>
            </a:pPr>
            <a:r>
              <a:rPr lang="en-US" sz="2534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STORAGE : 933 GB CAPACITY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59823" y="5368675"/>
            <a:ext cx="8111756" cy="3585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7279" lvl="1" indent="-273639" algn="l">
              <a:lnSpc>
                <a:spcPts val="4055"/>
              </a:lnSpc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OS : WINDOWS 11</a:t>
            </a:r>
          </a:p>
          <a:p>
            <a:pPr marL="547279" lvl="1" indent="-273639" algn="l">
              <a:lnSpc>
                <a:spcPts val="4055"/>
              </a:lnSpc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EDITOR : VISUAL STUDIO CODE</a:t>
            </a:r>
          </a:p>
          <a:p>
            <a:pPr marL="547279" lvl="1" indent="-273639" algn="l">
              <a:lnSpc>
                <a:spcPts val="4055"/>
              </a:lnSpc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PROGRAMMING LANGUAGE : PYTHON 3.9+</a:t>
            </a:r>
          </a:p>
          <a:p>
            <a:pPr marL="547279" lvl="1" indent="-273639" algn="l">
              <a:lnSpc>
                <a:spcPts val="4055"/>
              </a:lnSpc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FRAMEWORK : STREAMLIT</a:t>
            </a:r>
          </a:p>
          <a:p>
            <a:pPr marL="547279" lvl="1" indent="-273639" algn="l">
              <a:lnSpc>
                <a:spcPts val="4055"/>
              </a:lnSpc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DATABASE : MYSQL SERVER 8.0+</a:t>
            </a:r>
          </a:p>
          <a:p>
            <a:pPr marL="547279" lvl="1" indent="-273639" algn="l">
              <a:lnSpc>
                <a:spcPts val="4055"/>
              </a:lnSpc>
              <a:spcBef>
                <a:spcPct val="0"/>
              </a:spcBef>
              <a:buFont typeface="Arial"/>
              <a:buChar char="•"/>
            </a:pPr>
            <a:r>
              <a:rPr lang="en-US" sz="253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VIRTUAL ENVIRONMENT : ANACONDA OR STANDARD PYTHON VENV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462664" y="3926529"/>
            <a:ext cx="7224878" cy="4634822"/>
            <a:chOff x="0" y="0"/>
            <a:chExt cx="1902849" cy="12206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02849" cy="1220694"/>
            </a:xfrm>
            <a:custGeom>
              <a:avLst/>
              <a:gdLst/>
              <a:ahLst/>
              <a:cxnLst/>
              <a:rect l="l" t="t" r="r" b="b"/>
              <a:pathLst>
                <a:path w="1902849" h="1220694">
                  <a:moveTo>
                    <a:pt x="54650" y="0"/>
                  </a:moveTo>
                  <a:lnTo>
                    <a:pt x="1848199" y="0"/>
                  </a:lnTo>
                  <a:cubicBezTo>
                    <a:pt x="1862693" y="0"/>
                    <a:pt x="1876593" y="5758"/>
                    <a:pt x="1886842" y="16007"/>
                  </a:cubicBezTo>
                  <a:cubicBezTo>
                    <a:pt x="1897091" y="26255"/>
                    <a:pt x="1902849" y="40156"/>
                    <a:pt x="1902849" y="54650"/>
                  </a:cubicBezTo>
                  <a:lnTo>
                    <a:pt x="1902849" y="1166044"/>
                  </a:lnTo>
                  <a:cubicBezTo>
                    <a:pt x="1902849" y="1180538"/>
                    <a:pt x="1897091" y="1194438"/>
                    <a:pt x="1886842" y="1204687"/>
                  </a:cubicBezTo>
                  <a:cubicBezTo>
                    <a:pt x="1876593" y="1214936"/>
                    <a:pt x="1862693" y="1220694"/>
                    <a:pt x="1848199" y="1220694"/>
                  </a:cubicBezTo>
                  <a:lnTo>
                    <a:pt x="54650" y="1220694"/>
                  </a:lnTo>
                  <a:cubicBezTo>
                    <a:pt x="40156" y="1220694"/>
                    <a:pt x="26255" y="1214936"/>
                    <a:pt x="16007" y="1204687"/>
                  </a:cubicBezTo>
                  <a:cubicBezTo>
                    <a:pt x="5758" y="1194438"/>
                    <a:pt x="0" y="1180538"/>
                    <a:pt x="0" y="1166044"/>
                  </a:cubicBezTo>
                  <a:lnTo>
                    <a:pt x="0" y="54650"/>
                  </a:lnTo>
                  <a:cubicBezTo>
                    <a:pt x="0" y="40156"/>
                    <a:pt x="5758" y="26255"/>
                    <a:pt x="16007" y="16007"/>
                  </a:cubicBezTo>
                  <a:cubicBezTo>
                    <a:pt x="26255" y="5758"/>
                    <a:pt x="40156" y="0"/>
                    <a:pt x="546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902849" cy="130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327861">
            <a:off x="13103691" y="482350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8"/>
                </a:lnTo>
                <a:lnTo>
                  <a:pt x="0" y="88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600458" y="3926529"/>
            <a:ext cx="7224878" cy="4634822"/>
            <a:chOff x="0" y="0"/>
            <a:chExt cx="1902849" cy="12206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2849" cy="1220694"/>
            </a:xfrm>
            <a:custGeom>
              <a:avLst/>
              <a:gdLst/>
              <a:ahLst/>
              <a:cxnLst/>
              <a:rect l="l" t="t" r="r" b="b"/>
              <a:pathLst>
                <a:path w="1902849" h="1220694">
                  <a:moveTo>
                    <a:pt x="54650" y="0"/>
                  </a:moveTo>
                  <a:lnTo>
                    <a:pt x="1848199" y="0"/>
                  </a:lnTo>
                  <a:cubicBezTo>
                    <a:pt x="1862693" y="0"/>
                    <a:pt x="1876593" y="5758"/>
                    <a:pt x="1886842" y="16007"/>
                  </a:cubicBezTo>
                  <a:cubicBezTo>
                    <a:pt x="1897091" y="26255"/>
                    <a:pt x="1902849" y="40156"/>
                    <a:pt x="1902849" y="54650"/>
                  </a:cubicBezTo>
                  <a:lnTo>
                    <a:pt x="1902849" y="1166044"/>
                  </a:lnTo>
                  <a:cubicBezTo>
                    <a:pt x="1902849" y="1180538"/>
                    <a:pt x="1897091" y="1194438"/>
                    <a:pt x="1886842" y="1204687"/>
                  </a:cubicBezTo>
                  <a:cubicBezTo>
                    <a:pt x="1876593" y="1214936"/>
                    <a:pt x="1862693" y="1220694"/>
                    <a:pt x="1848199" y="1220694"/>
                  </a:cubicBezTo>
                  <a:lnTo>
                    <a:pt x="54650" y="1220694"/>
                  </a:lnTo>
                  <a:cubicBezTo>
                    <a:pt x="40156" y="1220694"/>
                    <a:pt x="26255" y="1214936"/>
                    <a:pt x="16007" y="1204687"/>
                  </a:cubicBezTo>
                  <a:cubicBezTo>
                    <a:pt x="5758" y="1194438"/>
                    <a:pt x="0" y="1180538"/>
                    <a:pt x="0" y="1166044"/>
                  </a:cubicBezTo>
                  <a:lnTo>
                    <a:pt x="0" y="54650"/>
                  </a:lnTo>
                  <a:cubicBezTo>
                    <a:pt x="0" y="40156"/>
                    <a:pt x="5758" y="26255"/>
                    <a:pt x="16007" y="16007"/>
                  </a:cubicBezTo>
                  <a:cubicBezTo>
                    <a:pt x="26255" y="5758"/>
                    <a:pt x="40156" y="0"/>
                    <a:pt x="546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1902849" cy="1306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33310" y="4313433"/>
            <a:ext cx="1348153" cy="830067"/>
          </a:xfrm>
          <a:custGeom>
            <a:avLst/>
            <a:gdLst/>
            <a:ahLst/>
            <a:cxnLst/>
            <a:rect l="l" t="t" r="r" b="b"/>
            <a:pathLst>
              <a:path w="1348153" h="830067">
                <a:moveTo>
                  <a:pt x="0" y="0"/>
                </a:moveTo>
                <a:lnTo>
                  <a:pt x="1348152" y="0"/>
                </a:lnTo>
                <a:lnTo>
                  <a:pt x="1348152" y="830067"/>
                </a:lnTo>
                <a:lnTo>
                  <a:pt x="0" y="830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3290" t="-58523" r="-200958" b="-8312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328209" y="4217738"/>
            <a:ext cx="1079056" cy="925762"/>
          </a:xfrm>
          <a:custGeom>
            <a:avLst/>
            <a:gdLst/>
            <a:ahLst/>
            <a:cxnLst/>
            <a:rect l="l" t="t" r="r" b="b"/>
            <a:pathLst>
              <a:path w="1079056" h="925762">
                <a:moveTo>
                  <a:pt x="0" y="0"/>
                </a:moveTo>
                <a:lnTo>
                  <a:pt x="1079056" y="0"/>
                </a:lnTo>
                <a:lnTo>
                  <a:pt x="1079056" y="925762"/>
                </a:lnTo>
                <a:lnTo>
                  <a:pt x="0" y="92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0266" t="-59975" r="-98606" b="-9893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290365" y="1694018"/>
            <a:ext cx="9707270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Development Framework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28209" y="5393798"/>
            <a:ext cx="373462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 (Core Engine)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28209" y="5925305"/>
            <a:ext cx="6554576" cy="260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Binds to low-level C++ libraries like OpenCV and dlib for high-performance facial landmark mapping. Dynamically handles massive memory arrays for real-time video processing.</a:t>
            </a:r>
          </a:p>
          <a:p>
            <a:pPr algn="l">
              <a:lnSpc>
                <a:spcPts val="4159"/>
              </a:lnSpc>
            </a:pPr>
            <a:endParaRPr lang="en-US" sz="2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833310" y="5393798"/>
            <a:ext cx="3331395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Streamlit (The GUI)</a:t>
            </a:r>
          </a:p>
          <a:p>
            <a:pPr algn="l">
              <a:lnSpc>
                <a:spcPts val="3300"/>
              </a:lnSpc>
            </a:pPr>
            <a:endParaRPr lang="en-US" sz="3000" b="1">
              <a:solidFill>
                <a:srgbClr val="CC11F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833310" y="5925305"/>
            <a:ext cx="6554576" cy="260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2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complex API routing by allowing pure Python frontend development. Natively manages Session States for strict Role-Based Access Control (RBAC).</a:t>
            </a:r>
          </a:p>
          <a:p>
            <a:pPr marL="0" lvl="0" indent="0" algn="l">
              <a:lnSpc>
                <a:spcPts val="415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27861">
            <a:off x="12276156" y="482350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8"/>
                </a:lnTo>
                <a:lnTo>
                  <a:pt x="0" y="88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42986" y="2124900"/>
            <a:ext cx="4854049" cy="3459335"/>
            <a:chOff x="0" y="0"/>
            <a:chExt cx="1278433" cy="9111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2986" y="1035812"/>
            <a:ext cx="902514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Libraries And Modules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2806" y="2571588"/>
            <a:ext cx="1641031" cy="916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OpenCV</a:t>
            </a:r>
          </a:p>
          <a:p>
            <a:pPr algn="l">
              <a:lnSpc>
                <a:spcPts val="3629"/>
              </a:lnSpc>
            </a:pPr>
            <a:endParaRPr lang="en-US" sz="3000" b="1">
              <a:solidFill>
                <a:srgbClr val="E6289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231243" y="2117914"/>
            <a:ext cx="4854049" cy="3459335"/>
            <a:chOff x="0" y="0"/>
            <a:chExt cx="1278433" cy="9111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818717" y="2117914"/>
            <a:ext cx="4854049" cy="3459335"/>
            <a:chOff x="0" y="0"/>
            <a:chExt cx="1278433" cy="91110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42986" y="6306305"/>
            <a:ext cx="4854049" cy="3459335"/>
            <a:chOff x="0" y="0"/>
            <a:chExt cx="1278433" cy="9111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231243" y="6306305"/>
            <a:ext cx="4854049" cy="3459335"/>
            <a:chOff x="0" y="0"/>
            <a:chExt cx="1278433" cy="9111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818717" y="6306305"/>
            <a:ext cx="4854049" cy="3459335"/>
            <a:chOff x="0" y="0"/>
            <a:chExt cx="1278433" cy="91110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78433" cy="911101"/>
            </a:xfrm>
            <a:custGeom>
              <a:avLst/>
              <a:gdLst/>
              <a:ahLst/>
              <a:cxnLst/>
              <a:rect l="l" t="t" r="r" b="b"/>
              <a:pathLst>
                <a:path w="1278433" h="911101">
                  <a:moveTo>
                    <a:pt x="81342" y="0"/>
                  </a:moveTo>
                  <a:lnTo>
                    <a:pt x="1197091" y="0"/>
                  </a:lnTo>
                  <a:cubicBezTo>
                    <a:pt x="1218664" y="0"/>
                    <a:pt x="1239354" y="8570"/>
                    <a:pt x="1254608" y="23825"/>
                  </a:cubicBezTo>
                  <a:cubicBezTo>
                    <a:pt x="1269863" y="39079"/>
                    <a:pt x="1278433" y="59769"/>
                    <a:pt x="1278433" y="81342"/>
                  </a:cubicBezTo>
                  <a:lnTo>
                    <a:pt x="1278433" y="829759"/>
                  </a:lnTo>
                  <a:cubicBezTo>
                    <a:pt x="1278433" y="851332"/>
                    <a:pt x="1269863" y="872021"/>
                    <a:pt x="1254608" y="887276"/>
                  </a:cubicBezTo>
                  <a:cubicBezTo>
                    <a:pt x="1239354" y="902531"/>
                    <a:pt x="1218664" y="911101"/>
                    <a:pt x="1197091" y="911101"/>
                  </a:cubicBezTo>
                  <a:lnTo>
                    <a:pt x="81342" y="911101"/>
                  </a:lnTo>
                  <a:cubicBezTo>
                    <a:pt x="59769" y="911101"/>
                    <a:pt x="39079" y="902531"/>
                    <a:pt x="23825" y="887276"/>
                  </a:cubicBezTo>
                  <a:cubicBezTo>
                    <a:pt x="8570" y="872021"/>
                    <a:pt x="0" y="851332"/>
                    <a:pt x="0" y="829759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278433" cy="9968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02969" y="2571588"/>
            <a:ext cx="29377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Face Recognition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286451" y="2572540"/>
            <a:ext cx="293772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NumPy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52806" y="6753980"/>
            <a:ext cx="2303783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PyWhatKit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02969" y="6753980"/>
            <a:ext cx="34275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MySQL Connector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053132" y="6753980"/>
            <a:ext cx="342758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>
                <a:solidFill>
                  <a:srgbClr val="E628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Dlib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52806" y="3364068"/>
            <a:ext cx="4202753" cy="208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Captures real-time 8-bit RGB video arrays from hardware.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286451" y="3055619"/>
            <a:ext cx="4202753" cy="208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Handles complex matrix math and image data formatting.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952806" y="7354055"/>
            <a:ext cx="4202753" cy="208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Automates instant WhatsApp absentee alerts to guardians.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556891" y="7354055"/>
            <a:ext cx="4202753" cy="208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bridge for dynamic SQL execution and ledger updates.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502969" y="3364068"/>
            <a:ext cx="4202753" cy="1667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Maps 128-d landmarks for biometric encodings via dlib.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286451" y="7354055"/>
            <a:ext cx="4202753" cy="208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Underlying engine for facial point estimation and detection.</a:t>
            </a:r>
          </a:p>
          <a:p>
            <a:pPr algn="l">
              <a:lnSpc>
                <a:spcPts val="319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46590" cy="10287000"/>
            <a:chOff x="0" y="0"/>
            <a:chExt cx="674838" cy="9198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4838" cy="919894"/>
            </a:xfrm>
            <a:custGeom>
              <a:avLst/>
              <a:gdLst/>
              <a:ahLst/>
              <a:cxnLst/>
              <a:rect l="l" t="t" r="r" b="b"/>
              <a:pathLst>
                <a:path w="674838" h="919894">
                  <a:moveTo>
                    <a:pt x="0" y="0"/>
                  </a:moveTo>
                  <a:lnTo>
                    <a:pt x="674838" y="0"/>
                  </a:lnTo>
                  <a:lnTo>
                    <a:pt x="674838" y="919894"/>
                  </a:lnTo>
                  <a:lnTo>
                    <a:pt x="0" y="919894"/>
                  </a:lnTo>
                  <a:close/>
                </a:path>
              </a:pathLst>
            </a:custGeom>
            <a:blipFill>
              <a:blip r:embed="rId2"/>
              <a:stretch>
                <a:fillRect t="-5158" b="-515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833485" y="2851150"/>
            <a:ext cx="9661089" cy="561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9829" lvl="1" indent="-484914" algn="l">
              <a:lnSpc>
                <a:spcPts val="4941"/>
              </a:lnSpc>
              <a:buFont typeface="Arial"/>
              <a:buChar char="•"/>
            </a:pPr>
            <a:r>
              <a:rPr lang="en-US" sz="4492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Strict Data Integrity:</a:t>
            </a:r>
            <a:r>
              <a:rPr lang="en-US" sz="4492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Enforces Primary Keys to guarantee zero proxy entries or duplicate records.</a:t>
            </a:r>
          </a:p>
          <a:p>
            <a:pPr marL="969829" lvl="1" indent="-484914" algn="l">
              <a:lnSpc>
                <a:spcPts val="4941"/>
              </a:lnSpc>
              <a:buFont typeface="Arial"/>
              <a:buChar char="•"/>
            </a:pPr>
            <a:r>
              <a:rPr lang="en-US" sz="4492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High-Speed Querying:</a:t>
            </a:r>
            <a:r>
              <a:rPr lang="en-US" sz="4492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for millisecond read/write operations to prevent camera lag.</a:t>
            </a:r>
          </a:p>
          <a:p>
            <a:pPr marL="969829" lvl="1" indent="-484914" algn="l">
              <a:lnSpc>
                <a:spcPts val="4941"/>
              </a:lnSpc>
              <a:buFont typeface="Arial"/>
              <a:buChar char="•"/>
            </a:pPr>
            <a:r>
              <a:rPr lang="en-US" sz="4492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Direct Ledger Control:</a:t>
            </a:r>
            <a:r>
              <a:rPr lang="en-US" sz="4492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Command Line Client for maximum security and execution speed.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3485" y="885825"/>
            <a:ext cx="9661089" cy="194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 Management: MySQL</a:t>
            </a:r>
          </a:p>
          <a:p>
            <a:pPr algn="ctr">
              <a:lnSpc>
                <a:spcPts val="7699"/>
              </a:lnSpc>
            </a:pPr>
            <a:endParaRPr lang="en-US" sz="5499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095741" y="5096235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13155724" y="-1861136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7"/>
                </a:lnTo>
                <a:lnTo>
                  <a:pt x="0" y="8393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4429322" y="1781522"/>
            <a:ext cx="3615427" cy="7476778"/>
            <a:chOff x="0" y="0"/>
            <a:chExt cx="952211" cy="19691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52211" cy="1969193"/>
            </a:xfrm>
            <a:custGeom>
              <a:avLst/>
              <a:gdLst/>
              <a:ahLst/>
              <a:cxnLst/>
              <a:rect l="l" t="t" r="r" b="b"/>
              <a:pathLst>
                <a:path w="952211" h="1969193">
                  <a:moveTo>
                    <a:pt x="109209" y="0"/>
                  </a:moveTo>
                  <a:lnTo>
                    <a:pt x="843002" y="0"/>
                  </a:lnTo>
                  <a:cubicBezTo>
                    <a:pt x="903317" y="0"/>
                    <a:pt x="952211" y="48895"/>
                    <a:pt x="952211" y="109209"/>
                  </a:cubicBezTo>
                  <a:lnTo>
                    <a:pt x="952211" y="1859983"/>
                  </a:lnTo>
                  <a:cubicBezTo>
                    <a:pt x="952211" y="1888947"/>
                    <a:pt x="940705" y="1916725"/>
                    <a:pt x="920225" y="1937206"/>
                  </a:cubicBezTo>
                  <a:cubicBezTo>
                    <a:pt x="899744" y="1957687"/>
                    <a:pt x="871966" y="1969193"/>
                    <a:pt x="843002" y="1969193"/>
                  </a:cubicBezTo>
                  <a:lnTo>
                    <a:pt x="109209" y="1969193"/>
                  </a:lnTo>
                  <a:cubicBezTo>
                    <a:pt x="80245" y="1969193"/>
                    <a:pt x="52467" y="1957687"/>
                    <a:pt x="31987" y="1937206"/>
                  </a:cubicBezTo>
                  <a:cubicBezTo>
                    <a:pt x="11506" y="1916725"/>
                    <a:pt x="0" y="1888947"/>
                    <a:pt x="0" y="1859983"/>
                  </a:cubicBezTo>
                  <a:lnTo>
                    <a:pt x="0" y="109209"/>
                  </a:lnTo>
                  <a:cubicBezTo>
                    <a:pt x="0" y="80245"/>
                    <a:pt x="11506" y="52467"/>
                    <a:pt x="31987" y="31987"/>
                  </a:cubicBezTo>
                  <a:cubicBezTo>
                    <a:pt x="52467" y="11506"/>
                    <a:pt x="80245" y="0"/>
                    <a:pt x="1092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952211" cy="2054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81063" y="1781522"/>
            <a:ext cx="13708378" cy="7476778"/>
          </a:xfrm>
          <a:custGeom>
            <a:avLst/>
            <a:gdLst/>
            <a:ahLst/>
            <a:cxnLst/>
            <a:rect l="l" t="t" r="r" b="b"/>
            <a:pathLst>
              <a:path w="13708378" h="7476778">
                <a:moveTo>
                  <a:pt x="0" y="0"/>
                </a:moveTo>
                <a:lnTo>
                  <a:pt x="13708377" y="0"/>
                </a:lnTo>
                <a:lnTo>
                  <a:pt x="13708377" y="7476778"/>
                </a:lnTo>
                <a:lnTo>
                  <a:pt x="0" y="7476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57222" y="480217"/>
            <a:ext cx="6196253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29322" y="2077018"/>
            <a:ext cx="3615427" cy="745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048" lvl="1" indent="-251524" algn="just">
              <a:lnSpc>
                <a:spcPts val="3728"/>
              </a:lnSpc>
              <a:buFont typeface="Arial"/>
              <a:buChar char="•"/>
            </a:pPr>
            <a:r>
              <a:rPr lang="en-US" sz="2330" b="1">
                <a:solidFill>
                  <a:srgbClr val="C5DF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PRESENTATION LAYER:</a:t>
            </a:r>
            <a:r>
              <a:rPr lang="en-US" sz="233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STREAMLIT RBAC GUI.</a:t>
            </a:r>
          </a:p>
          <a:p>
            <a:pPr marL="503048" lvl="1" indent="-251524" algn="just">
              <a:lnSpc>
                <a:spcPts val="3728"/>
              </a:lnSpc>
              <a:buFont typeface="Arial"/>
              <a:buChar char="•"/>
            </a:pPr>
            <a:r>
              <a:rPr lang="en-US" sz="2330" b="1">
                <a:solidFill>
                  <a:srgbClr val="C5DF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Computer Vision Layer:</a:t>
            </a:r>
            <a:r>
              <a:rPr lang="en-US" sz="233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OpenCV Frame Capture + dlib Encoding.</a:t>
            </a:r>
          </a:p>
          <a:p>
            <a:pPr marL="503048" lvl="1" indent="-251524" algn="just">
              <a:lnSpc>
                <a:spcPts val="3728"/>
              </a:lnSpc>
              <a:buFont typeface="Arial"/>
              <a:buChar char="•"/>
            </a:pPr>
            <a:r>
              <a:rPr lang="en-US" sz="2330" b="1">
                <a:solidFill>
                  <a:srgbClr val="C5DF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Management Layer:</a:t>
            </a:r>
            <a:r>
              <a:rPr lang="en-US" sz="233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MySQL Relational Database Server.</a:t>
            </a:r>
          </a:p>
          <a:p>
            <a:pPr marL="503048" lvl="1" indent="-251524" algn="just">
              <a:lnSpc>
                <a:spcPts val="3728"/>
              </a:lnSpc>
              <a:buFont typeface="Arial"/>
              <a:buChar char="•"/>
            </a:pPr>
            <a:r>
              <a:rPr lang="en-US" sz="2330" b="1">
                <a:solidFill>
                  <a:srgbClr val="C5DF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 Layer: </a:t>
            </a:r>
            <a:r>
              <a:rPr lang="en-US" sz="233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WhatsApp Alert Pipeline.</a:t>
            </a:r>
          </a:p>
          <a:p>
            <a:pPr algn="just">
              <a:lnSpc>
                <a:spcPts val="3728"/>
              </a:lnSpc>
              <a:spcBef>
                <a:spcPct val="0"/>
              </a:spcBef>
            </a:pPr>
            <a:endParaRPr lang="en-US" sz="233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144000" y="2334591"/>
            <a:ext cx="8564933" cy="7032814"/>
            <a:chOff x="0" y="0"/>
            <a:chExt cx="2255785" cy="18522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55785" cy="1852264"/>
            </a:xfrm>
            <a:custGeom>
              <a:avLst/>
              <a:gdLst/>
              <a:ahLst/>
              <a:cxnLst/>
              <a:rect l="l" t="t" r="r" b="b"/>
              <a:pathLst>
                <a:path w="2255785" h="1852264">
                  <a:moveTo>
                    <a:pt x="46099" y="0"/>
                  </a:moveTo>
                  <a:lnTo>
                    <a:pt x="2209685" y="0"/>
                  </a:lnTo>
                  <a:cubicBezTo>
                    <a:pt x="2235145" y="0"/>
                    <a:pt x="2255785" y="20639"/>
                    <a:pt x="2255785" y="46099"/>
                  </a:cubicBezTo>
                  <a:lnTo>
                    <a:pt x="2255785" y="1806165"/>
                  </a:lnTo>
                  <a:cubicBezTo>
                    <a:pt x="2255785" y="1831624"/>
                    <a:pt x="2235145" y="1852264"/>
                    <a:pt x="2209685" y="1852264"/>
                  </a:cubicBezTo>
                  <a:lnTo>
                    <a:pt x="46099" y="1852264"/>
                  </a:lnTo>
                  <a:cubicBezTo>
                    <a:pt x="20639" y="1852264"/>
                    <a:pt x="0" y="1831624"/>
                    <a:pt x="0" y="1806165"/>
                  </a:cubicBezTo>
                  <a:lnTo>
                    <a:pt x="0" y="46099"/>
                  </a:lnTo>
                  <a:cubicBezTo>
                    <a:pt x="0" y="20639"/>
                    <a:pt x="20639" y="0"/>
                    <a:pt x="460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2255785" cy="1937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327861">
            <a:off x="13402302" y="487390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67829" y="3022544"/>
            <a:ext cx="1261183" cy="1261183"/>
          </a:xfrm>
          <a:custGeom>
            <a:avLst/>
            <a:gdLst/>
            <a:ahLst/>
            <a:cxnLst/>
            <a:rect l="l" t="t" r="r" b="b"/>
            <a:pathLst>
              <a:path w="1261183" h="1261183">
                <a:moveTo>
                  <a:pt x="0" y="0"/>
                </a:moveTo>
                <a:lnTo>
                  <a:pt x="1261183" y="0"/>
                </a:lnTo>
                <a:lnTo>
                  <a:pt x="1261183" y="1261183"/>
                </a:lnTo>
                <a:lnTo>
                  <a:pt x="0" y="12611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9699136" y="7462615"/>
            <a:ext cx="1261183" cy="1538028"/>
          </a:xfrm>
          <a:custGeom>
            <a:avLst/>
            <a:gdLst/>
            <a:ahLst/>
            <a:cxnLst/>
            <a:rect l="l" t="t" r="r" b="b"/>
            <a:pathLst>
              <a:path w="1261183" h="1538028">
                <a:moveTo>
                  <a:pt x="0" y="0"/>
                </a:moveTo>
                <a:lnTo>
                  <a:pt x="1261183" y="0"/>
                </a:lnTo>
                <a:lnTo>
                  <a:pt x="1261183" y="1538028"/>
                </a:lnTo>
                <a:lnTo>
                  <a:pt x="0" y="15380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" name="Group 11"/>
          <p:cNvGrpSpPr/>
          <p:nvPr/>
        </p:nvGrpSpPr>
        <p:grpSpPr>
          <a:xfrm>
            <a:off x="410480" y="2334591"/>
            <a:ext cx="8564933" cy="7032814"/>
            <a:chOff x="0" y="0"/>
            <a:chExt cx="2255785" cy="185226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55785" cy="1852264"/>
            </a:xfrm>
            <a:custGeom>
              <a:avLst/>
              <a:gdLst/>
              <a:ahLst/>
              <a:cxnLst/>
              <a:rect l="l" t="t" r="r" b="b"/>
              <a:pathLst>
                <a:path w="2255785" h="1852264">
                  <a:moveTo>
                    <a:pt x="46099" y="0"/>
                  </a:moveTo>
                  <a:lnTo>
                    <a:pt x="2209685" y="0"/>
                  </a:lnTo>
                  <a:cubicBezTo>
                    <a:pt x="2235145" y="0"/>
                    <a:pt x="2255785" y="20639"/>
                    <a:pt x="2255785" y="46099"/>
                  </a:cubicBezTo>
                  <a:lnTo>
                    <a:pt x="2255785" y="1806165"/>
                  </a:lnTo>
                  <a:cubicBezTo>
                    <a:pt x="2255785" y="1831624"/>
                    <a:pt x="2235145" y="1852264"/>
                    <a:pt x="2209685" y="1852264"/>
                  </a:cubicBezTo>
                  <a:lnTo>
                    <a:pt x="46099" y="1852264"/>
                  </a:lnTo>
                  <a:cubicBezTo>
                    <a:pt x="20639" y="1852264"/>
                    <a:pt x="0" y="1831624"/>
                    <a:pt x="0" y="1806165"/>
                  </a:cubicBezTo>
                  <a:lnTo>
                    <a:pt x="0" y="46099"/>
                  </a:lnTo>
                  <a:cubicBezTo>
                    <a:pt x="0" y="20639"/>
                    <a:pt x="20639" y="0"/>
                    <a:pt x="4609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255785" cy="1937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9767829" y="5320198"/>
            <a:ext cx="1261183" cy="1438814"/>
          </a:xfrm>
          <a:custGeom>
            <a:avLst/>
            <a:gdLst/>
            <a:ahLst/>
            <a:cxnLst/>
            <a:rect l="l" t="t" r="r" b="b"/>
            <a:pathLst>
              <a:path w="1261183" h="1438814">
                <a:moveTo>
                  <a:pt x="0" y="0"/>
                </a:moveTo>
                <a:lnTo>
                  <a:pt x="1261183" y="0"/>
                </a:lnTo>
                <a:lnTo>
                  <a:pt x="1261183" y="1438814"/>
                </a:lnTo>
                <a:lnTo>
                  <a:pt x="0" y="14388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210068" y="622300"/>
            <a:ext cx="9530690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 &amp; Modules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288100" y="3407708"/>
            <a:ext cx="4510759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399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ADMIN DASHBOARD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88100" y="5794178"/>
            <a:ext cx="49712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399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FACULTY DASHBOARD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88100" y="7986201"/>
            <a:ext cx="4971200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9"/>
              </a:lnSpc>
            </a:pPr>
            <a:r>
              <a:rPr lang="en-US" sz="3399" b="1">
                <a:solidFill>
                  <a:srgbClr val="CC11F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9169" y="2649645"/>
            <a:ext cx="8147555" cy="629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5" lvl="1" indent="-259078" algn="l">
              <a:lnSpc>
                <a:spcPts val="3839"/>
              </a:lnSpc>
              <a:buFont typeface="Arial"/>
              <a:buChar char="•"/>
            </a:pPr>
            <a:r>
              <a:rPr lang="en-US" sz="2399" b="1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MODULAR ARCHITECTURE:</a:t>
            </a: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THE SYSTEM IS DIVIDED INTO THREE PRIMARY MODULES: ADMIN, FACULTY, AND STUDENT.</a:t>
            </a:r>
          </a:p>
          <a:p>
            <a:pPr marL="518155" lvl="1" indent="-259078" algn="l">
              <a:lnSpc>
                <a:spcPts val="3839"/>
              </a:lnSpc>
              <a:buFont typeface="Arial"/>
              <a:buChar char="•"/>
            </a:pPr>
            <a:r>
              <a:rPr lang="en-US" sz="2399" b="1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Role-Based Access Control (RBAC):</a:t>
            </a: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Access is strictly governed via a centralized login portal authenticated against the MySQL database.</a:t>
            </a:r>
          </a:p>
          <a:p>
            <a:pPr marL="518155" lvl="1" indent="-259078" algn="l">
              <a:lnSpc>
                <a:spcPts val="3839"/>
              </a:lnSpc>
              <a:buFont typeface="Arial"/>
              <a:buChar char="•"/>
            </a:pPr>
            <a:r>
              <a:rPr lang="en-US" sz="2399" b="1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Parity: </a:t>
            </a:r>
            <a:r>
              <a:rPr lang="en-US" sz="23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Admin and Faculty dashboards are unified by design. This ensures Administrators can step in to mark attendance or manage sessions seamlessly during faculty absences, preventing systemic bottlenecks.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22083" y="1283928"/>
            <a:ext cx="10443834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Admin &amp; Faculty Workflows</a:t>
            </a:r>
          </a:p>
        </p:txBody>
      </p:sp>
      <p:sp>
        <p:nvSpPr>
          <p:cNvPr id="6" name="Freeform 6"/>
          <p:cNvSpPr/>
          <p:nvPr/>
        </p:nvSpPr>
        <p:spPr>
          <a:xfrm>
            <a:off x="11233757" y="2516158"/>
            <a:ext cx="6025543" cy="6884036"/>
          </a:xfrm>
          <a:custGeom>
            <a:avLst/>
            <a:gdLst/>
            <a:ahLst/>
            <a:cxnLst/>
            <a:rect l="l" t="t" r="r" b="b"/>
            <a:pathLst>
              <a:path w="6025543" h="6884036">
                <a:moveTo>
                  <a:pt x="0" y="0"/>
                </a:moveTo>
                <a:lnTo>
                  <a:pt x="6025543" y="0"/>
                </a:lnTo>
                <a:lnTo>
                  <a:pt x="6025543" y="6884036"/>
                </a:lnTo>
                <a:lnTo>
                  <a:pt x="0" y="68840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25" t="-39872" r="-421705" b="-10342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8519" y="2411383"/>
            <a:ext cx="8541304" cy="6608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800" b="1" dirty="0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Register Student Module: 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Inputs core demographic data, guardian contact numbers, and captures the initial photograph for the 128-d biometric encoding.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800" b="1" dirty="0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 Attendance Module: 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Activates the live webcam, runs real-time computer vision algorithms, and commits "Present" statuses directly to the database.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800" b="1" dirty="0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Communication Trigger: 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Utilizes </a:t>
            </a:r>
            <a:r>
              <a:rPr lang="en-US" sz="2800" b="1" dirty="0" err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pywhatkit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to autonomously cross-reference rosters and dispatch WhatsApp absentee alerts immediately after class.</a:t>
            </a:r>
          </a:p>
          <a:p>
            <a:pPr marL="496566" lvl="1" indent="-248283" algn="l">
              <a:lnSpc>
                <a:spcPts val="3679"/>
              </a:lnSpc>
              <a:buFont typeface="Arial"/>
              <a:buChar char="•"/>
            </a:pPr>
            <a:r>
              <a:rPr lang="en-US" sz="2800" b="1" dirty="0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 Attendance &amp; Analytics: </a:t>
            </a:r>
            <a:r>
              <a:rPr lang="en-US" sz="28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Displays an interactive data grid with Excel export utilities for official university audits.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327861">
            <a:off x="12276156" y="482350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8"/>
                </a:lnTo>
                <a:lnTo>
                  <a:pt x="0" y="88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93833" y="1172910"/>
            <a:ext cx="8936549" cy="8085390"/>
            <a:chOff x="0" y="0"/>
            <a:chExt cx="2353659" cy="21294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53659" cy="2129486"/>
            </a:xfrm>
            <a:custGeom>
              <a:avLst/>
              <a:gdLst/>
              <a:ahLst/>
              <a:cxnLst/>
              <a:rect l="l" t="t" r="r" b="b"/>
              <a:pathLst>
                <a:path w="2353659" h="2129486">
                  <a:moveTo>
                    <a:pt x="44182" y="0"/>
                  </a:moveTo>
                  <a:lnTo>
                    <a:pt x="2309476" y="0"/>
                  </a:lnTo>
                  <a:cubicBezTo>
                    <a:pt x="2321194" y="0"/>
                    <a:pt x="2332432" y="4655"/>
                    <a:pt x="2340718" y="12941"/>
                  </a:cubicBezTo>
                  <a:cubicBezTo>
                    <a:pt x="2349004" y="21227"/>
                    <a:pt x="2353659" y="32464"/>
                    <a:pt x="2353659" y="44182"/>
                  </a:cubicBezTo>
                  <a:lnTo>
                    <a:pt x="2353659" y="2085303"/>
                  </a:lnTo>
                  <a:cubicBezTo>
                    <a:pt x="2353659" y="2097021"/>
                    <a:pt x="2349004" y="2108259"/>
                    <a:pt x="2340718" y="2116545"/>
                  </a:cubicBezTo>
                  <a:cubicBezTo>
                    <a:pt x="2332432" y="2124831"/>
                    <a:pt x="2321194" y="2129486"/>
                    <a:pt x="2309476" y="2129486"/>
                  </a:cubicBezTo>
                  <a:lnTo>
                    <a:pt x="44182" y="2129486"/>
                  </a:lnTo>
                  <a:cubicBezTo>
                    <a:pt x="32464" y="2129486"/>
                    <a:pt x="21227" y="2124831"/>
                    <a:pt x="12941" y="2116545"/>
                  </a:cubicBezTo>
                  <a:cubicBezTo>
                    <a:pt x="4655" y="2108259"/>
                    <a:pt x="0" y="2097021"/>
                    <a:pt x="0" y="2085303"/>
                  </a:cubicBezTo>
                  <a:lnTo>
                    <a:pt x="0" y="44182"/>
                  </a:lnTo>
                  <a:cubicBezTo>
                    <a:pt x="0" y="32464"/>
                    <a:pt x="4655" y="21227"/>
                    <a:pt x="12941" y="12941"/>
                  </a:cubicBezTo>
                  <a:cubicBezTo>
                    <a:pt x="21227" y="4655"/>
                    <a:pt x="32464" y="0"/>
                    <a:pt x="441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2353659" cy="2215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412430" y="622300"/>
            <a:ext cx="5463139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Portal</a:t>
            </a:r>
          </a:p>
        </p:txBody>
      </p:sp>
      <p:sp>
        <p:nvSpPr>
          <p:cNvPr id="10" name="Freeform 10"/>
          <p:cNvSpPr/>
          <p:nvPr/>
        </p:nvSpPr>
        <p:spPr>
          <a:xfrm>
            <a:off x="374655" y="3169401"/>
            <a:ext cx="8135408" cy="4638294"/>
          </a:xfrm>
          <a:custGeom>
            <a:avLst/>
            <a:gdLst/>
            <a:ahLst/>
            <a:cxnLst/>
            <a:rect l="l" t="t" r="r" b="b"/>
            <a:pathLst>
              <a:path w="8135408" h="4638294">
                <a:moveTo>
                  <a:pt x="0" y="0"/>
                </a:moveTo>
                <a:lnTo>
                  <a:pt x="8135408" y="0"/>
                </a:lnTo>
                <a:lnTo>
                  <a:pt x="8135408" y="4638294"/>
                </a:lnTo>
                <a:lnTo>
                  <a:pt x="0" y="46382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79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215365" y="1617057"/>
            <a:ext cx="7893485" cy="287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3599" b="1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Read-Only Integrity</a:t>
            </a:r>
          </a:p>
          <a:p>
            <a:pPr algn="just">
              <a:lnSpc>
                <a:spcPts val="5759"/>
              </a:lnSpc>
            </a:pPr>
            <a:r>
              <a:rPr lang="en-US" sz="3599" b="1" i="1">
                <a:solidFill>
                  <a:srgbClr val="EA97FF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Designed to maintain absolute data security against unauthorized manipulation by end-users.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66725" y="4949298"/>
            <a:ext cx="8936549" cy="340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0" lvl="1" indent="-367025" algn="l">
              <a:lnSpc>
                <a:spcPts val="5439"/>
              </a:lnSpc>
              <a:buFont typeface="Arial"/>
              <a:buChar char="•"/>
            </a:pPr>
            <a:r>
              <a:rPr lang="en-US" sz="3399" b="1" dirty="0">
                <a:solidFill>
                  <a:srgbClr val="C213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ATTENDANCE ANALYTICS</a:t>
            </a:r>
          </a:p>
          <a:p>
            <a:pPr marL="734050" lvl="1" indent="-367025" algn="l">
              <a:lnSpc>
                <a:spcPts val="5439"/>
              </a:lnSpc>
              <a:buFont typeface="Arial"/>
              <a:buChar char="•"/>
            </a:pPr>
            <a:r>
              <a:rPr lang="en-US" sz="3399" b="1" dirty="0">
                <a:solidFill>
                  <a:srgbClr val="C213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PERCENTAGE TRACKING</a:t>
            </a:r>
          </a:p>
          <a:p>
            <a:pPr marL="734050" lvl="1" indent="-367025" algn="l">
              <a:lnSpc>
                <a:spcPts val="5439"/>
              </a:lnSpc>
              <a:buFont typeface="Arial"/>
              <a:buChar char="•"/>
            </a:pPr>
            <a:r>
              <a:rPr lang="en-US" sz="3399" b="1" dirty="0">
                <a:solidFill>
                  <a:srgbClr val="C2137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DAYS VS. ABSENTEE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59823" y="1424161"/>
            <a:ext cx="8543597" cy="4516792"/>
          </a:xfrm>
          <a:custGeom>
            <a:avLst/>
            <a:gdLst/>
            <a:ahLst/>
            <a:cxnLst/>
            <a:rect l="l" t="t" r="r" b="b"/>
            <a:pathLst>
              <a:path w="8543597" h="4516792">
                <a:moveTo>
                  <a:pt x="0" y="0"/>
                </a:moveTo>
                <a:lnTo>
                  <a:pt x="8543597" y="0"/>
                </a:lnTo>
                <a:lnTo>
                  <a:pt x="8543597" y="4516793"/>
                </a:lnTo>
                <a:lnTo>
                  <a:pt x="0" y="4516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12322" y="5368482"/>
            <a:ext cx="8656093" cy="4578392"/>
          </a:xfrm>
          <a:custGeom>
            <a:avLst/>
            <a:gdLst/>
            <a:ahLst/>
            <a:cxnLst/>
            <a:rect l="l" t="t" r="r" b="b"/>
            <a:pathLst>
              <a:path w="8656093" h="4578392">
                <a:moveTo>
                  <a:pt x="0" y="0"/>
                </a:moveTo>
                <a:lnTo>
                  <a:pt x="8656093" y="0"/>
                </a:lnTo>
                <a:lnTo>
                  <a:pt x="8656093" y="4578393"/>
                </a:lnTo>
                <a:lnTo>
                  <a:pt x="0" y="4578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68272" y="316086"/>
            <a:ext cx="615145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Screenshots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78300" y="2956115"/>
            <a:ext cx="3589972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LOGIN SCREEN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9823" y="6815435"/>
            <a:ext cx="8543597" cy="146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ADMIN/FACULTY DASHBOARD WITH MARK ATTENDANCE MODULE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4340" y="1471705"/>
            <a:ext cx="8359853" cy="4421704"/>
          </a:xfrm>
          <a:custGeom>
            <a:avLst/>
            <a:gdLst/>
            <a:ahLst/>
            <a:cxnLst/>
            <a:rect l="l" t="t" r="r" b="b"/>
            <a:pathLst>
              <a:path w="8359853" h="4421704">
                <a:moveTo>
                  <a:pt x="0" y="0"/>
                </a:moveTo>
                <a:lnTo>
                  <a:pt x="8359853" y="0"/>
                </a:lnTo>
                <a:lnTo>
                  <a:pt x="8359853" y="4421705"/>
                </a:lnTo>
                <a:lnTo>
                  <a:pt x="0" y="4421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9359823" y="5398858"/>
            <a:ext cx="8549660" cy="4517642"/>
          </a:xfrm>
          <a:custGeom>
            <a:avLst/>
            <a:gdLst/>
            <a:ahLst/>
            <a:cxnLst/>
            <a:rect l="l" t="t" r="r" b="b"/>
            <a:pathLst>
              <a:path w="8549660" h="4517642">
                <a:moveTo>
                  <a:pt x="0" y="0"/>
                </a:moveTo>
                <a:lnTo>
                  <a:pt x="8549660" y="0"/>
                </a:lnTo>
                <a:lnTo>
                  <a:pt x="8549660" y="4517642"/>
                </a:lnTo>
                <a:lnTo>
                  <a:pt x="0" y="45176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68272" y="316086"/>
            <a:ext cx="615145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Screenshots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56848" y="2862136"/>
            <a:ext cx="8546572" cy="146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LIVE FACE RECOGNITION BASED ATTENDANCE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403" y="7208732"/>
            <a:ext cx="8543597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CLOSURE OF ATTENDANCE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84580" y="3436168"/>
            <a:ext cx="8759420" cy="4637018"/>
          </a:xfrm>
          <a:custGeom>
            <a:avLst/>
            <a:gdLst/>
            <a:ahLst/>
            <a:cxnLst/>
            <a:rect l="l" t="t" r="r" b="b"/>
            <a:pathLst>
              <a:path w="8759420" h="4637018">
                <a:moveTo>
                  <a:pt x="0" y="0"/>
                </a:moveTo>
                <a:lnTo>
                  <a:pt x="8759420" y="0"/>
                </a:lnTo>
                <a:lnTo>
                  <a:pt x="8759420" y="4637018"/>
                </a:lnTo>
                <a:lnTo>
                  <a:pt x="0" y="46370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64185" y="2670897"/>
            <a:ext cx="8223412" cy="6167559"/>
          </a:xfrm>
          <a:custGeom>
            <a:avLst/>
            <a:gdLst/>
            <a:ahLst/>
            <a:cxnLst/>
            <a:rect l="l" t="t" r="r" b="b"/>
            <a:pathLst>
              <a:path w="8223412" h="6167559">
                <a:moveTo>
                  <a:pt x="0" y="0"/>
                </a:moveTo>
                <a:lnTo>
                  <a:pt x="8223412" y="0"/>
                </a:lnTo>
                <a:lnTo>
                  <a:pt x="8223412" y="6167560"/>
                </a:lnTo>
                <a:lnTo>
                  <a:pt x="0" y="6167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68272" y="316086"/>
            <a:ext cx="615145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Screenshots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6569" y="1342457"/>
            <a:ext cx="7467600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WHATSAPP ALERT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1342457"/>
            <a:ext cx="8543597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REGISTER STUDENT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3784" y="2221995"/>
            <a:ext cx="7834247" cy="7546991"/>
          </a:xfrm>
          <a:custGeom>
            <a:avLst/>
            <a:gdLst/>
            <a:ahLst/>
            <a:cxnLst/>
            <a:rect l="l" t="t" r="r" b="b"/>
            <a:pathLst>
              <a:path w="7834247" h="7546991">
                <a:moveTo>
                  <a:pt x="0" y="0"/>
                </a:moveTo>
                <a:lnTo>
                  <a:pt x="7834247" y="0"/>
                </a:lnTo>
                <a:lnTo>
                  <a:pt x="7834247" y="7546991"/>
                </a:lnTo>
                <a:lnTo>
                  <a:pt x="0" y="7546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59823" y="3231765"/>
            <a:ext cx="8518100" cy="4399296"/>
          </a:xfrm>
          <a:custGeom>
            <a:avLst/>
            <a:gdLst/>
            <a:ahLst/>
            <a:cxnLst/>
            <a:rect l="l" t="t" r="r" b="b"/>
            <a:pathLst>
              <a:path w="8518100" h="4399296">
                <a:moveTo>
                  <a:pt x="0" y="0"/>
                </a:moveTo>
                <a:lnTo>
                  <a:pt x="8518100" y="0"/>
                </a:lnTo>
                <a:lnTo>
                  <a:pt x="8518100" y="4399297"/>
                </a:lnTo>
                <a:lnTo>
                  <a:pt x="0" y="43992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068272" y="316086"/>
            <a:ext cx="615145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Screenshots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2975" y="1342457"/>
            <a:ext cx="6874788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VIEW ATTENDANCE MODULE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342457"/>
            <a:ext cx="8543597" cy="726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DOWNLOADED EXCEL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423003" y="2613743"/>
            <a:ext cx="13873641" cy="7338064"/>
          </a:xfrm>
          <a:custGeom>
            <a:avLst/>
            <a:gdLst/>
            <a:ahLst/>
            <a:cxnLst/>
            <a:rect l="l" t="t" r="r" b="b"/>
            <a:pathLst>
              <a:path w="13873641" h="7338064">
                <a:moveTo>
                  <a:pt x="0" y="0"/>
                </a:moveTo>
                <a:lnTo>
                  <a:pt x="13873641" y="0"/>
                </a:lnTo>
                <a:lnTo>
                  <a:pt x="13873641" y="7338064"/>
                </a:lnTo>
                <a:lnTo>
                  <a:pt x="0" y="733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68272" y="622300"/>
            <a:ext cx="6151456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Screenshots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4211" y="1582500"/>
            <a:ext cx="14551223" cy="678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600" b="1" dirty="0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</a:t>
            </a:r>
            <a:r>
              <a:rPr lang="en-US" sz="3699" b="1" dirty="0">
                <a:solidFill>
                  <a:srgbClr val="EA97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DASHBOARD – STUDENT’S PERSONAL ATTENDANCE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46590" cy="10287000"/>
            <a:chOff x="0" y="0"/>
            <a:chExt cx="674838" cy="9198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4838" cy="919894"/>
            </a:xfrm>
            <a:custGeom>
              <a:avLst/>
              <a:gdLst/>
              <a:ahLst/>
              <a:cxnLst/>
              <a:rect l="l" t="t" r="r" b="b"/>
              <a:pathLst>
                <a:path w="674838" h="919894">
                  <a:moveTo>
                    <a:pt x="0" y="0"/>
                  </a:moveTo>
                  <a:lnTo>
                    <a:pt x="674838" y="0"/>
                  </a:lnTo>
                  <a:lnTo>
                    <a:pt x="674838" y="919894"/>
                  </a:lnTo>
                  <a:lnTo>
                    <a:pt x="0" y="919894"/>
                  </a:lnTo>
                  <a:close/>
                </a:path>
              </a:pathLst>
            </a:custGeom>
            <a:blipFill>
              <a:blip r:embed="rId2"/>
              <a:stretch>
                <a:fillRect t="-5158" b="-515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rot="2700000">
            <a:off x="-3383920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2354151" y="5786847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73789">
            <a:off x="4244668" y="-550204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6"/>
                </a:lnTo>
                <a:lnTo>
                  <a:pt x="0" y="8393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150454" y="1463675"/>
            <a:ext cx="9661089" cy="830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1"/>
              </a:lnSpc>
            </a:pPr>
            <a:r>
              <a:rPr lang="en-US" sz="4292" b="1">
                <a:solidFill>
                  <a:srgbClr val="C5DF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IMPACTS</a:t>
            </a:r>
          </a:p>
          <a:p>
            <a:pPr marL="926650" lvl="1" indent="-463325" algn="l">
              <a:lnSpc>
                <a:spcPts val="4721"/>
              </a:lnSpc>
              <a:buFont typeface="Arial"/>
              <a:buChar char="•"/>
            </a:pPr>
            <a:r>
              <a:rPr lang="en-US" sz="4292" dirty="0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Modernizes Administration: </a:t>
            </a:r>
            <a:r>
              <a:rPr lang="en-US" sz="429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Replaces manual roll calls with automated tracking.</a:t>
            </a:r>
          </a:p>
          <a:p>
            <a:pPr marL="926650" lvl="1" indent="-463325" algn="l">
              <a:lnSpc>
                <a:spcPts val="4721"/>
              </a:lnSpc>
              <a:buFont typeface="Arial"/>
              <a:buChar char="•"/>
            </a:pPr>
            <a:r>
              <a:rPr lang="en-US" sz="4292" dirty="0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Eliminates Proxies: </a:t>
            </a:r>
            <a:r>
              <a:rPr lang="en-US" sz="429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Biometrically verifies physical presence in real-time.</a:t>
            </a:r>
          </a:p>
          <a:p>
            <a:pPr marL="926650" lvl="1" indent="-463325" algn="l">
              <a:lnSpc>
                <a:spcPts val="4721"/>
              </a:lnSpc>
              <a:buFont typeface="Arial"/>
              <a:buChar char="•"/>
            </a:pPr>
            <a:r>
              <a:rPr lang="en-US" sz="4292" dirty="0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Enforces Discipline: </a:t>
            </a:r>
            <a:r>
              <a:rPr lang="en-US" sz="429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 passive tracking into active enforcement via instant WhatsApp alerts.</a:t>
            </a:r>
          </a:p>
          <a:p>
            <a:pPr marL="926650" lvl="1" indent="-463325" algn="l">
              <a:lnSpc>
                <a:spcPts val="4721"/>
              </a:lnSpc>
              <a:buFont typeface="Arial"/>
              <a:buChar char="•"/>
            </a:pPr>
            <a:r>
              <a:rPr lang="en-US" sz="4292" dirty="0">
                <a:solidFill>
                  <a:srgbClr val="CC11F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 Workload: </a:t>
            </a:r>
            <a:r>
              <a:rPr lang="en-US" sz="429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Delivers a secure, scalable, and tamper-proof ecosystem for faculty.</a:t>
            </a:r>
          </a:p>
          <a:p>
            <a:pPr algn="l">
              <a:lnSpc>
                <a:spcPts val="4721"/>
              </a:lnSpc>
            </a:pPr>
            <a:endParaRPr lang="en-US" sz="4292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994952" y="469900"/>
            <a:ext cx="3940248" cy="905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9" name="Freeform 9"/>
          <p:cNvSpPr/>
          <p:nvPr/>
        </p:nvSpPr>
        <p:spPr>
          <a:xfrm rot="1769453">
            <a:off x="12676459" y="-203324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8"/>
                </a:lnTo>
                <a:lnTo>
                  <a:pt x="0" y="2464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69453">
            <a:off x="-2066443" y="7437856"/>
            <a:ext cx="7095424" cy="2464047"/>
          </a:xfrm>
          <a:custGeom>
            <a:avLst/>
            <a:gdLst/>
            <a:ahLst/>
            <a:cxnLst/>
            <a:rect l="l" t="t" r="r" b="b"/>
            <a:pathLst>
              <a:path w="7095424" h="2464047">
                <a:moveTo>
                  <a:pt x="0" y="0"/>
                </a:moveTo>
                <a:lnTo>
                  <a:pt x="7095424" y="0"/>
                </a:lnTo>
                <a:lnTo>
                  <a:pt x="7095424" y="2464047"/>
                </a:lnTo>
                <a:lnTo>
                  <a:pt x="0" y="2464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327861">
            <a:off x="13103691" y="482350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8"/>
                </a:lnTo>
                <a:lnTo>
                  <a:pt x="0" y="886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2559" y="1444625"/>
            <a:ext cx="5695114" cy="5127656"/>
            <a:chOff x="0" y="0"/>
            <a:chExt cx="1499948" cy="13504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99948" cy="1350494"/>
            </a:xfrm>
            <a:custGeom>
              <a:avLst/>
              <a:gdLst/>
              <a:ahLst/>
              <a:cxnLst/>
              <a:rect l="l" t="t" r="r" b="b"/>
              <a:pathLst>
                <a:path w="1499948" h="1350494">
                  <a:moveTo>
                    <a:pt x="69329" y="0"/>
                  </a:moveTo>
                  <a:lnTo>
                    <a:pt x="1430618" y="0"/>
                  </a:lnTo>
                  <a:cubicBezTo>
                    <a:pt x="1468908" y="0"/>
                    <a:pt x="1499948" y="31040"/>
                    <a:pt x="1499948" y="69329"/>
                  </a:cubicBezTo>
                  <a:lnTo>
                    <a:pt x="1499948" y="1281165"/>
                  </a:lnTo>
                  <a:cubicBezTo>
                    <a:pt x="1499948" y="1319454"/>
                    <a:pt x="1468908" y="1350494"/>
                    <a:pt x="1430618" y="1350494"/>
                  </a:cubicBezTo>
                  <a:lnTo>
                    <a:pt x="69329" y="1350494"/>
                  </a:lnTo>
                  <a:cubicBezTo>
                    <a:pt x="31040" y="1350494"/>
                    <a:pt x="0" y="1319454"/>
                    <a:pt x="0" y="1281165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1499948" cy="1436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327861">
            <a:off x="-3383920" y="-4165596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40" y="0"/>
                </a:lnTo>
                <a:lnTo>
                  <a:pt x="8825240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2270422" y="4881971"/>
            <a:ext cx="5695114" cy="5127656"/>
            <a:chOff x="0" y="0"/>
            <a:chExt cx="1499948" cy="13504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9948" cy="1350494"/>
            </a:xfrm>
            <a:custGeom>
              <a:avLst/>
              <a:gdLst/>
              <a:ahLst/>
              <a:cxnLst/>
              <a:rect l="l" t="t" r="r" b="b"/>
              <a:pathLst>
                <a:path w="1499948" h="1350494">
                  <a:moveTo>
                    <a:pt x="69329" y="0"/>
                  </a:moveTo>
                  <a:lnTo>
                    <a:pt x="1430618" y="0"/>
                  </a:lnTo>
                  <a:cubicBezTo>
                    <a:pt x="1468908" y="0"/>
                    <a:pt x="1499948" y="31040"/>
                    <a:pt x="1499948" y="69329"/>
                  </a:cubicBezTo>
                  <a:lnTo>
                    <a:pt x="1499948" y="1281165"/>
                  </a:lnTo>
                  <a:cubicBezTo>
                    <a:pt x="1499948" y="1319454"/>
                    <a:pt x="1468908" y="1350494"/>
                    <a:pt x="1430618" y="1350494"/>
                  </a:cubicBezTo>
                  <a:lnTo>
                    <a:pt x="69329" y="1350494"/>
                  </a:lnTo>
                  <a:cubicBezTo>
                    <a:pt x="31040" y="1350494"/>
                    <a:pt x="0" y="1319454"/>
                    <a:pt x="0" y="1281165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499948" cy="1436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96443" y="3023548"/>
            <a:ext cx="5695114" cy="5127656"/>
            <a:chOff x="0" y="0"/>
            <a:chExt cx="1499948" cy="13504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99948" cy="1350494"/>
            </a:xfrm>
            <a:custGeom>
              <a:avLst/>
              <a:gdLst/>
              <a:ahLst/>
              <a:cxnLst/>
              <a:rect l="l" t="t" r="r" b="b"/>
              <a:pathLst>
                <a:path w="1499948" h="1350494">
                  <a:moveTo>
                    <a:pt x="69329" y="0"/>
                  </a:moveTo>
                  <a:lnTo>
                    <a:pt x="1430618" y="0"/>
                  </a:lnTo>
                  <a:cubicBezTo>
                    <a:pt x="1468908" y="0"/>
                    <a:pt x="1499948" y="31040"/>
                    <a:pt x="1499948" y="69329"/>
                  </a:cubicBezTo>
                  <a:lnTo>
                    <a:pt x="1499948" y="1281165"/>
                  </a:lnTo>
                  <a:cubicBezTo>
                    <a:pt x="1499948" y="1319454"/>
                    <a:pt x="1468908" y="1350494"/>
                    <a:pt x="1430618" y="1350494"/>
                  </a:cubicBezTo>
                  <a:lnTo>
                    <a:pt x="69329" y="1350494"/>
                  </a:lnTo>
                  <a:cubicBezTo>
                    <a:pt x="31040" y="1350494"/>
                    <a:pt x="0" y="1319454"/>
                    <a:pt x="0" y="1281165"/>
                  </a:cubicBezTo>
                  <a:lnTo>
                    <a:pt x="0" y="69329"/>
                  </a:lnTo>
                  <a:cubicBezTo>
                    <a:pt x="0" y="31040"/>
                    <a:pt x="31040" y="0"/>
                    <a:pt x="6932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65000"/>
                  </a:srgbClr>
                </a:gs>
                <a:gs pos="100000">
                  <a:srgbClr val="CD12FA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499948" cy="14362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203753" y="1900965"/>
            <a:ext cx="1810617" cy="1122583"/>
          </a:xfrm>
          <a:custGeom>
            <a:avLst/>
            <a:gdLst/>
            <a:ahLst/>
            <a:cxnLst/>
            <a:rect l="l" t="t" r="r" b="b"/>
            <a:pathLst>
              <a:path w="1810617" h="1122583">
                <a:moveTo>
                  <a:pt x="0" y="0"/>
                </a:moveTo>
                <a:lnTo>
                  <a:pt x="1810618" y="0"/>
                </a:lnTo>
                <a:lnTo>
                  <a:pt x="1810618" y="1122583"/>
                </a:lnTo>
                <a:lnTo>
                  <a:pt x="0" y="11225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637947" y="3264054"/>
            <a:ext cx="1022200" cy="1244688"/>
          </a:xfrm>
          <a:custGeom>
            <a:avLst/>
            <a:gdLst/>
            <a:ahLst/>
            <a:cxnLst/>
            <a:rect l="l" t="t" r="r" b="b"/>
            <a:pathLst>
              <a:path w="1022200" h="1244688">
                <a:moveTo>
                  <a:pt x="0" y="0"/>
                </a:moveTo>
                <a:lnTo>
                  <a:pt x="1022200" y="0"/>
                </a:lnTo>
                <a:lnTo>
                  <a:pt x="1022200" y="1244688"/>
                </a:lnTo>
                <a:lnTo>
                  <a:pt x="0" y="12446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553072" y="5356316"/>
            <a:ext cx="1129813" cy="1170240"/>
          </a:xfrm>
          <a:custGeom>
            <a:avLst/>
            <a:gdLst/>
            <a:ahLst/>
            <a:cxnLst/>
            <a:rect l="l" t="t" r="r" b="b"/>
            <a:pathLst>
              <a:path w="1129813" h="1170240">
                <a:moveTo>
                  <a:pt x="0" y="0"/>
                </a:moveTo>
                <a:lnTo>
                  <a:pt x="1129813" y="0"/>
                </a:lnTo>
                <a:lnTo>
                  <a:pt x="1129813" y="1170240"/>
                </a:lnTo>
                <a:lnTo>
                  <a:pt x="0" y="11702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290365" y="622300"/>
            <a:ext cx="9707270" cy="82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32559" y="3130704"/>
            <a:ext cx="5695114" cy="58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 INTEGRATION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01490" y="4524782"/>
            <a:ext cx="5695114" cy="58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ANTI-SPOOFING 2.0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270422" y="6632559"/>
            <a:ext cx="5695114" cy="581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2999" b="1">
                <a:solidFill>
                  <a:srgbClr val="FF70C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SENDER ROTATION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2559" y="3740875"/>
            <a:ext cx="5695114" cy="1615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Dispatching internal grading results and semester warnings directly via the WhatsApp communication hub.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301490" y="5150468"/>
            <a:ext cx="5695114" cy="215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Upgrading pipeline to analyze depth data and micro-expressions to neutralize photo/video spoofing attempts.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70422" y="7321974"/>
            <a:ext cx="5695114" cy="1615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26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Implementing rotating sender IDs to prevent students from blocking alert numbers on parental devices.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700000">
            <a:off x="-3208355" y="-3036839"/>
            <a:ext cx="8825239" cy="8869587"/>
          </a:xfrm>
          <a:custGeom>
            <a:avLst/>
            <a:gdLst/>
            <a:ahLst/>
            <a:cxnLst/>
            <a:rect l="l" t="t" r="r" b="b"/>
            <a:pathLst>
              <a:path w="8825239" h="8869587">
                <a:moveTo>
                  <a:pt x="0" y="0"/>
                </a:moveTo>
                <a:lnTo>
                  <a:pt x="8825239" y="0"/>
                </a:lnTo>
                <a:lnTo>
                  <a:pt x="8825239" y="8869587"/>
                </a:lnTo>
                <a:lnTo>
                  <a:pt x="0" y="8869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73789">
            <a:off x="11995765" y="4450334"/>
            <a:ext cx="10230310" cy="8393117"/>
          </a:xfrm>
          <a:custGeom>
            <a:avLst/>
            <a:gdLst/>
            <a:ahLst/>
            <a:cxnLst/>
            <a:rect l="l" t="t" r="r" b="b"/>
            <a:pathLst>
              <a:path w="10230310" h="8393117">
                <a:moveTo>
                  <a:pt x="0" y="0"/>
                </a:moveTo>
                <a:lnTo>
                  <a:pt x="10230310" y="0"/>
                </a:lnTo>
                <a:lnTo>
                  <a:pt x="10230310" y="8393117"/>
                </a:lnTo>
                <a:lnTo>
                  <a:pt x="0" y="8393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50953" y="4235094"/>
            <a:ext cx="10786094" cy="1873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38"/>
              </a:lnSpc>
            </a:pPr>
            <a:r>
              <a:rPr lang="en-US" sz="1267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726</Words>
  <Application>Microsoft Office PowerPoint</Application>
  <PresentationFormat>Custom</PresentationFormat>
  <Paragraphs>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Times New Roman MT</vt:lpstr>
      <vt:lpstr>Times New Roman Bold</vt:lpstr>
      <vt:lpstr>Times New Roman</vt:lpstr>
      <vt:lpstr>Calibri</vt:lpstr>
      <vt:lpstr>Arial</vt:lpstr>
      <vt:lpstr>Cheque Bold</vt:lpstr>
      <vt:lpstr>Times New Roman Bold Italics</vt:lpstr>
      <vt:lpstr>Times New Roman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Pink and Purple Bold Elegant Gradient Modern Technology Digital Metaverse Presentation</dc:title>
  <cp:lastModifiedBy>Aishwarya Ravi Mohan</cp:lastModifiedBy>
  <cp:revision>6</cp:revision>
  <dcterms:created xsi:type="dcterms:W3CDTF">2006-08-16T00:00:00Z</dcterms:created>
  <dcterms:modified xsi:type="dcterms:W3CDTF">2026-03-16T05:17:43Z</dcterms:modified>
  <dc:identifier>DAHEDhcRYd4</dc:identifier>
</cp:coreProperties>
</file>